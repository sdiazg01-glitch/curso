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1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668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4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55664"/>
            <a:ext cx="11183112" cy="0"/>
          </a:xfrm>
          <a:prstGeom prst="line">
            <a:avLst/>
          </a:prstGeom>
          <a:noFill/>
          <a:ln w="10160">
            <a:solidFill>
              <a:srgbClr val="CFD8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7040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40" dirty="0">
                <a:solidFill>
                  <a:srgbClr val="6371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SEGUIMIENTO DE CONTRATOS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960120"/>
            <a:ext cx="4937760" cy="4937760"/>
          </a:xfrm>
          <a:prstGeom prst="ellipse">
            <a:avLst/>
          </a:prstGeom>
          <a:solidFill>
            <a:srgbClr val="14745D">
              <a:alpha val="84000"/>
            </a:srgbClr>
          </a:solidFill>
          <a:ln w="12700">
            <a:solidFill>
              <a:srgbClr val="14745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3154680"/>
            <a:ext cx="3291840" cy="3291840"/>
          </a:xfrm>
          <a:prstGeom prst="ellipse">
            <a:avLst/>
          </a:prstGeom>
          <a:solidFill>
            <a:srgbClr val="E66A43">
              <a:alpha val="95000"/>
            </a:srgbClr>
          </a:solidFill>
          <a:ln w="12700">
            <a:solidFill>
              <a:srgbClr val="E66A4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18120" y="2971800"/>
            <a:ext cx="2057400" cy="2057400"/>
          </a:xfrm>
          <a:prstGeom prst="rect">
            <a:avLst/>
          </a:prstGeom>
          <a:solidFill>
            <a:srgbClr val="F2C66D">
              <a:alpha val="92000"/>
            </a:srgbClr>
          </a:solidFill>
          <a:ln w="12700">
            <a:solidFill>
              <a:srgbClr val="F2C66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67665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8D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FINAL  / 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399032"/>
            <a:ext cx="6995160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de</a:t>
            </a:r>
            <a:endParaRPr lang="en-US" sz="34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Seguimiento de</a:t>
            </a:r>
            <a:endParaRPr lang="en-US" sz="340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Contratos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86384" y="40965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D2E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Propósito, requisitos y arquitectura del aplicativo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6384" y="4892040"/>
            <a:ext cx="960120" cy="0"/>
          </a:xfrm>
          <a:prstGeom prst="line">
            <a:avLst/>
          </a:prstGeom>
          <a:noFill/>
          <a:ln w="43180">
            <a:solidFill>
              <a:srgbClr val="E66A43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786384" y="51206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AFC1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MVC  ·  EF Core  ·  SQL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" y="6099048"/>
            <a:ext cx="5394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A8D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GESTIÓN  /  CONTROL  /  ALERTAS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reto: controlar contratos sin perder fechas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el registro y el seguimiento están dispersos, anticiparse a un vencimiento se vuelve difícil.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65376"/>
            <a:ext cx="4617720" cy="4069080"/>
          </a:xfrm>
          <a:prstGeom prst="roundRect">
            <a:avLst>
              <a:gd name="adj" fmla="val 2697"/>
            </a:avLst>
          </a:prstGeom>
          <a:solidFill>
            <a:srgbClr val="1E302B"/>
          </a:solidFill>
          <a:ln w="12700">
            <a:solidFill>
              <a:srgbClr val="1E30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167128"/>
            <a:ext cx="2926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A8D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96112" y="2606040"/>
            <a:ext cx="37673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información contractual requiere un punto único de control.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96112" y="3913632"/>
            <a:ext cx="3685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CFDC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una vista común, los cambios, observaciones y fechas límite pueden quedar repartidos entre registros y personas.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50992" y="190195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66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RIESGOS OBSERVADOS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23560" y="2221992"/>
            <a:ext cx="59618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2221992"/>
            <a:ext cx="64008" cy="960120"/>
          </a:xfrm>
          <a:prstGeom prst="rect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33872" y="2404872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Vencimientos tardíos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33872" y="2798064"/>
            <a:ext cx="5559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revisión manual puede dejar poco tiempo para actuar.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23560" y="3429000"/>
            <a:ext cx="59618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3429000"/>
            <a:ext cx="64008" cy="960120"/>
          </a:xfrm>
          <a:prstGeom prst="rect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33872" y="361188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fragmentado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33872" y="4005072"/>
            <a:ext cx="5559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del contrato y sus observaciones no siempre se consultan juntos.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23560" y="4636008"/>
            <a:ext cx="5961888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4636008"/>
            <a:ext cx="64008" cy="960120"/>
          </a:xfrm>
          <a:prstGeom prst="rect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33872" y="4818888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Accesos sin separación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833872" y="5212080"/>
            <a:ext cx="5559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tareas de administración y consulta necesitan permisos diferenciados.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PROPÓSITO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flujo centralizado para administrar y anticipar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aplicativo reúne el ciclo operativo del contrato desde el registro hasta el seguimiento.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10" dirty="0">
                <a:solidFill>
                  <a:srgbClr val="E66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1056132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Registrar contratos, mantener su información actualizada y dar seguimiento a su vigencia con acceso según el rol.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85800" y="3776472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977640"/>
            <a:ext cx="292608" cy="292608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39959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68680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y modificar los datos de los contratos.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84448" y="3776472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67328" y="3977640"/>
            <a:ext cx="292608" cy="292608"/>
          </a:xfrm>
          <a:prstGeom prst="ellipse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39959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67328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767328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y actualizar el historial y las observaciones.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83096" y="3776472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5976" y="3977640"/>
            <a:ext cx="292608" cy="292608"/>
          </a:xfrm>
          <a:prstGeom prst="ellipse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39959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65976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65976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vencimientos próximos y preparar avisos por correo.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81744" y="3776472"/>
            <a:ext cx="2487168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64624" y="3977640"/>
            <a:ext cx="292608" cy="292608"/>
          </a:xfrm>
          <a:prstGeom prst="ellipse">
            <a:avLst/>
          </a:prstGeom>
          <a:solidFill>
            <a:srgbClr val="1E302B"/>
          </a:solidFill>
          <a:ln w="12700">
            <a:solidFill>
              <a:srgbClr val="1E30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912" y="3995928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564624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Restringir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64624" y="48006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Diferenciar las acciones de Administrador y Seguimiento.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3232" y="5742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ESPERADO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96312" y="5678424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visibilidad sobre el estado contractual y más anticipación para el equipo responsable.</a:t>
            </a:r>
            <a:endParaRPr lang="en-US" sz="13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REQUISITOS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debe resolver el aplicativo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 funcionales implementados y condiciones técnicas de operación.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1865376"/>
            <a:ext cx="5440680" cy="4142232"/>
          </a:xfrm>
          <a:prstGeom prst="roundRect">
            <a:avLst>
              <a:gd name="adj" fmla="val 2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6208" y="1865376"/>
            <a:ext cx="5321808" cy="4142232"/>
          </a:xfrm>
          <a:prstGeom prst="roundRect">
            <a:avLst>
              <a:gd name="adj" fmla="val 2649"/>
            </a:avLst>
          </a:prstGeom>
          <a:solidFill>
            <a:srgbClr val="E8F0EB"/>
          </a:solidFill>
          <a:ln w="12700">
            <a:solidFill>
              <a:srgbClr val="E8F0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13969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05256" y="2679192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6424" y="2578608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Iniciar sesión y autorizar por rol.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05256" y="3236976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3136392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y editar contratos: número, partes, objeto, fechas, valor y estado.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05256" y="3986784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6424" y="3886200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Consultar y modificar registros de seguimiento y observaciones.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05256" y="4736592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4636008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Alertar al rol Seguimiento sobre contratos que vencen en 10 días o menos.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05256" y="5486400"/>
            <a:ext cx="91440" cy="91440"/>
          </a:xfrm>
          <a:prstGeom prst="ellipse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06424" y="5385816"/>
            <a:ext cx="4553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Enviar avisos por SMTP cuando el servicio de correo esté configurado.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213969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TÉCNICOS Y OPERATIVOS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10528" y="2679192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11696" y="2578608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.NET 8 con ASP.NET Core MVC.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10528" y="3236976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1696" y="3136392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Framework Core como acceso a datos.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10528" y="3794760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11696" y="3694176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 LocalDB; base configurada: bd-contratos.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510528" y="4352544"/>
            <a:ext cx="91440" cy="91440"/>
          </a:xfrm>
          <a:prstGeom prst="ellipse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11696" y="4251960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Autenticación por cookies y roles Administrador / Seguimiento.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510528" y="4910328"/>
            <a:ext cx="91440" cy="91440"/>
          </a:xfrm>
          <a:prstGeom prst="ellipse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4809744"/>
            <a:ext cx="4370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SMTP y un correo real antes de habilitar envío externo.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10528" y="5486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i="1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esquema se crea desde el modelo EF Core al iniciar la aplicación; el SQL legado tiene otra estructura.</a:t>
            </a:r>
            <a:endParaRPr lang="en-US" sz="10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USO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roles, responsabilidades complementarias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perfil entra al flujo que le corresponde.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5303520" cy="3493008"/>
          </a:xfrm>
          <a:prstGeom prst="roundRect">
            <a:avLst>
              <a:gd name="adj" fmla="val 3141"/>
            </a:avLst>
          </a:prstGeom>
          <a:solidFill>
            <a:srgbClr val="1E302B"/>
          </a:solidFill>
          <a:ln w="12700">
            <a:solidFill>
              <a:srgbClr val="1E30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21284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2C6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41832" y="2761488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Administrador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60120" y="3502152"/>
            <a:ext cx="91440" cy="91440"/>
          </a:xfrm>
          <a:prstGeom prst="ellipse">
            <a:avLst/>
          </a:prstGeom>
          <a:solidFill>
            <a:srgbClr val="259879"/>
          </a:solidFill>
          <a:ln w="12700">
            <a:solidFill>
              <a:srgbClr val="2598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61288" y="3401568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4E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contratos y actualiza sus datos.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4069080"/>
            <a:ext cx="91440" cy="91440"/>
          </a:xfrm>
          <a:prstGeom prst="ellipse">
            <a:avLst/>
          </a:prstGeom>
          <a:solidFill>
            <a:srgbClr val="259879"/>
          </a:solidFill>
          <a:ln w="12700">
            <a:solidFill>
              <a:srgbClr val="2598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3968496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4E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el tablero y el historial.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636008"/>
            <a:ext cx="91440" cy="91440"/>
          </a:xfrm>
          <a:prstGeom prst="ellipse">
            <a:avLst/>
          </a:prstGeom>
          <a:solidFill>
            <a:srgbClr val="259879"/>
          </a:solidFill>
          <a:ln w="12700">
            <a:solidFill>
              <a:srgbClr val="2598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61288" y="4535424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4EC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 el contenido contractual.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6208" y="1938528"/>
            <a:ext cx="5303520" cy="3493008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47104" y="2212848"/>
            <a:ext cx="621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E66A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47104" y="2761488"/>
            <a:ext cx="4480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565392" y="3502152"/>
            <a:ext cx="91440" cy="91440"/>
          </a:xfrm>
          <a:prstGeom prst="ellipse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401568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 contratos próximos a vencer.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65392" y="4069080"/>
            <a:ext cx="91440" cy="91440"/>
          </a:xfrm>
          <a:prstGeom prst="ellipse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968496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y actualiza observaciones de seguimiento.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65392" y="4636008"/>
            <a:ext cx="91440" cy="91440"/>
          </a:xfrm>
          <a:prstGeom prst="ellipse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535424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alerta en pantalla y aviso de correo configurado.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724144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Perfil de usuario: DNI · nombre · teléfono · correo · rol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ARQUITECTURA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Capas del aplicativo y flujo de alertas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Arquitectura web MVC con acceso a datos centralizado en SQL Server.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21792" y="2148840"/>
            <a:ext cx="2029968" cy="1051560"/>
          </a:xfrm>
          <a:prstGeom prst="roundRect">
            <a:avLst>
              <a:gd name="adj" fmla="val 10435"/>
            </a:avLst>
          </a:prstGeom>
          <a:solidFill>
            <a:srgbClr val="1E302B"/>
          </a:solidFill>
          <a:ln w="12700">
            <a:solidFill>
              <a:srgbClr val="1E30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49808" y="2770632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D2E0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Administrador · Seguimiento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865376"/>
            <a:ext cx="4828032" cy="2770632"/>
          </a:xfrm>
          <a:prstGeom prst="roundRect">
            <a:avLst>
              <a:gd name="adj" fmla="val 3960"/>
            </a:avLst>
          </a:prstGeom>
          <a:solidFill>
            <a:srgbClr val="E4EEE8"/>
          </a:solidFill>
          <a:ln w="12700">
            <a:solidFill>
              <a:srgbClr val="E4EEE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084832"/>
            <a:ext cx="4242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8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ASP.NET CORE MVC · .NET 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38728" y="2578608"/>
            <a:ext cx="1188720" cy="1252728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285292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75888" y="31729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5192" y="2578608"/>
            <a:ext cx="1188720" cy="1252728"/>
          </a:xfrm>
          <a:prstGeom prst="roundRect">
            <a:avLst>
              <a:gd name="adj" fmla="val 846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28529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317296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91656" y="2578608"/>
            <a:ext cx="1353312" cy="1252728"/>
          </a:xfrm>
          <a:prstGeom prst="roundRect">
            <a:avLst>
              <a:gd name="adj" fmla="val 802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285292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 Core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10528" y="3218688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ApplicationDbContext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05672" y="2148840"/>
            <a:ext cx="2715768" cy="1051560"/>
          </a:xfrm>
          <a:prstGeom prst="roundRect">
            <a:avLst>
              <a:gd name="adj" fmla="val 10435"/>
            </a:avLst>
          </a:prstGeom>
          <a:solidFill>
            <a:srgbClr val="14745D"/>
          </a:solidFill>
          <a:ln w="12700">
            <a:solidFill>
              <a:srgbClr val="14745D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34272" y="2359152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34272" y="2770632"/>
            <a:ext cx="2258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E3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LocalDB · bd-contratos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29000" y="5010912"/>
            <a:ext cx="2331720" cy="777240"/>
          </a:xfrm>
          <a:prstGeom prst="roundRect">
            <a:avLst>
              <a:gd name="adj" fmla="val 14118"/>
            </a:avLst>
          </a:prstGeom>
          <a:solidFill>
            <a:srgbClr val="FBE7DC"/>
          </a:solidFill>
          <a:ln w="12700">
            <a:solidFill>
              <a:srgbClr val="FBE7D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11880" y="518464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diario de alertas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37376" y="5010912"/>
            <a:ext cx="1847088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5184648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SMTP · correo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2670048"/>
            <a:ext cx="502920" cy="0"/>
          </a:xfrm>
          <a:prstGeom prst="line">
            <a:avLst/>
          </a:prstGeom>
          <a:noFill/>
          <a:ln w="25400">
            <a:solidFill>
              <a:srgbClr val="14745D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74152" y="2670048"/>
            <a:ext cx="731520" cy="0"/>
          </a:xfrm>
          <a:prstGeom prst="line">
            <a:avLst/>
          </a:prstGeom>
          <a:noFill/>
          <a:ln w="25400">
            <a:solidFill>
              <a:srgbClr val="14745D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406640" y="4636008"/>
            <a:ext cx="0" cy="374904"/>
          </a:xfrm>
          <a:prstGeom prst="line">
            <a:avLst/>
          </a:prstGeom>
          <a:noFill/>
          <a:ln w="21590">
            <a:solidFill>
              <a:srgbClr val="E66A43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760720" y="5394960"/>
            <a:ext cx="676656" cy="0"/>
          </a:xfrm>
          <a:prstGeom prst="line">
            <a:avLst/>
          </a:prstGeom>
          <a:noFill/>
          <a:ln w="21590">
            <a:solidFill>
              <a:srgbClr val="E66A43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2651760" y="235000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/ respuesta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28432" y="235000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Consultas y cambios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29000" y="5925312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externo requiere credenciales SMTP y dirección del usuario configuradas.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DATOS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Entidades que sostienen la operación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relaciona usuarios, contratos, historial y notificaciones de vencimiento.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288536" y="2743200"/>
            <a:ext cx="3127248" cy="2240280"/>
          </a:xfrm>
          <a:prstGeom prst="roundRect">
            <a:avLst>
              <a:gd name="adj" fmla="val 4898"/>
            </a:avLst>
          </a:prstGeom>
          <a:solidFill>
            <a:srgbClr val="1E302B"/>
          </a:solidFill>
          <a:ln w="12700">
            <a:solidFill>
              <a:srgbClr val="1E302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62856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kern="0" spc="110" dirty="0">
                <a:solidFill>
                  <a:srgbClr val="A8D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62856" y="3456432"/>
            <a:ext cx="2423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Número · contratista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Objeto · fechas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 · estado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Observaciones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76656" y="2048256"/>
            <a:ext cx="2816352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768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2697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DNI · nombre · teléfono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correo · rol · credenciales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2048256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5632" y="22768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485632" y="26974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· observación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 relacionado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88536" y="5340096"/>
            <a:ext cx="3127248" cy="731520"/>
          </a:xfrm>
          <a:prstGeom prst="roundRect">
            <a:avLst>
              <a:gd name="adj" fmla="val 15000"/>
            </a:avLst>
          </a:prstGeom>
          <a:solidFill>
            <a:srgbClr val="FBE7DC"/>
          </a:solidFill>
          <a:ln w="12700">
            <a:solidFill>
              <a:srgbClr val="FBE7D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551383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54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 DE VENCIMIENTO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93008" y="2798064"/>
            <a:ext cx="786384" cy="484632"/>
          </a:xfrm>
          <a:prstGeom prst="line">
            <a:avLst/>
          </a:prstGeom>
          <a:noFill/>
          <a:ln w="20320">
            <a:solidFill>
              <a:srgbClr val="14745D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7415784" y="2788920"/>
            <a:ext cx="813816" cy="484632"/>
          </a:xfrm>
          <a:prstGeom prst="line">
            <a:avLst/>
          </a:prstGeom>
          <a:noFill/>
          <a:ln w="20320">
            <a:solidFill>
              <a:srgbClr val="14745D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852160" y="4983480"/>
            <a:ext cx="0" cy="347472"/>
          </a:xfrm>
          <a:prstGeom prst="line">
            <a:avLst/>
          </a:prstGeom>
          <a:noFill/>
          <a:ln w="20320">
            <a:solidFill>
              <a:srgbClr val="E66A43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3822192" y="30540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72984" y="3054096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87552" y="5705856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contrato puede tener múltiples registros de seguimiento y generar alertas por destinatario.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4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OPERACIÓN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76072" y="70408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Estado de configuración y siguientes pasos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280160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arquitectura está preparada; estas acciones completan su puesta en marcha.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7512" y="2057400"/>
            <a:ext cx="31729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057400"/>
            <a:ext cx="3172968" cy="109728"/>
          </a:xfrm>
          <a:prstGeom prst="rect">
            <a:avLst/>
          </a:prstGeom>
          <a:solidFill>
            <a:srgbClr val="14745D"/>
          </a:solidFill>
          <a:ln w="12700">
            <a:solidFill>
              <a:srgbClr val="14745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23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datos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96112" y="2971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configurada a (localdb)\MSSQLLocalDB / bd-contratos. El modelo EF Core crea las tablas al iniciar.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07992" y="2057400"/>
            <a:ext cx="31729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07992" y="2057400"/>
            <a:ext cx="3172968" cy="109728"/>
          </a:xfrm>
          <a:prstGeom prst="rect">
            <a:avLst/>
          </a:prstGeom>
          <a:solidFill>
            <a:srgbClr val="E66A43"/>
          </a:solidFill>
          <a:ln w="12700">
            <a:solidFill>
              <a:srgbClr val="E66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2423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Alertas por correo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36592" y="2971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Configurar servidor, remitente, puerto, SSL y credenciales SMTP. Registrar un correo válido para Seguimiento.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48472" y="2057400"/>
            <a:ext cx="3172968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057400"/>
            <a:ext cx="3172968" cy="109728"/>
          </a:xfrm>
          <a:prstGeom prst="rect">
            <a:avLst/>
          </a:prstGeom>
          <a:solidFill>
            <a:srgbClr val="F2C66D"/>
          </a:solidFill>
          <a:ln w="12700">
            <a:solidFill>
              <a:srgbClr val="F2C6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77072" y="24231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E3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Seguridad y operación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77072" y="2971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070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producción: proteger contraseñas, resguardar secretos, definir copias de seguridad y monitoreo.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67512" y="5074920"/>
            <a:ext cx="10853928" cy="749808"/>
          </a:xfrm>
          <a:prstGeom prst="roundRect">
            <a:avLst>
              <a:gd name="adj" fmla="val 14634"/>
            </a:avLst>
          </a:prstGeom>
          <a:solidFill>
            <a:srgbClr val="1E302B"/>
          </a:solidFill>
          <a:ln w="12700">
            <a:solidFill>
              <a:srgbClr val="1E302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528523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8D9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 DE IMPLEMENTACIÓN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971800" y="5230368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contratos.sql define otra base y otro esquema; no se utiliza con el modelo EF Core actual.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" y="6062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kern="0" spc="130" dirty="0">
                <a:solidFill>
                  <a:srgbClr val="1474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74520" y="598932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E3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Gestión clara. Seguimiento oportuno. Información centralizada.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3716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Panorámica</PresentationFormat>
  <Paragraphs>138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Proyecto final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Seguimiento de Contratos</dc:title>
  <dc:subject>Propósito, requisitos y arquitectura del aplicativo</dc:subject>
  <dc:creator>Contract Tracking</dc:creator>
  <cp:lastModifiedBy>Enrique Carranza</cp:lastModifiedBy>
  <cp:revision>1</cp:revision>
  <dcterms:created xsi:type="dcterms:W3CDTF">2026-09-26T11:45:54Z</dcterms:created>
  <dcterms:modified xsi:type="dcterms:W3CDTF">2026-09-26T15:06:58Z</dcterms:modified>
</cp:coreProperties>
</file>